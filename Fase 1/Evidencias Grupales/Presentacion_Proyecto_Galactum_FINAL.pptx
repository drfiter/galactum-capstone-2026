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bdef4cf3164abc" /><Relationship Type="http://schemas.openxmlformats.org/officeDocument/2006/relationships/extended-properties" Target="/docProps/app.xml" Id="Rfa05d7e2587b4c64" /><Relationship Type="http://schemas.openxmlformats.org/officeDocument/2006/relationships/officeDocument" Target="/ppt/presentation.xml" Id="Rf26c89fce48748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0e12f4e7314a19"/>
  </p:sldMasterIdLst>
  <p:notesMasterIdLst>
    <p:notesMasterId xmlns:r="http://schemas.openxmlformats.org/officeDocument/2006/relationships" r:id="R8769667469444a7b"/>
  </p:notesMasterIdLst>
  <p:sldIdLst>
    <p:sldId xmlns:r="http://schemas.openxmlformats.org/officeDocument/2006/relationships" id="256" r:id="R5f94232d623c4778"/>
    <p:sldId xmlns:r="http://schemas.openxmlformats.org/officeDocument/2006/relationships" id="257" r:id="R9ff1372b38884ea7"/>
    <p:sldId xmlns:r="http://schemas.openxmlformats.org/officeDocument/2006/relationships" id="258" r:id="R6e557d5c83bd4182"/>
    <p:sldId xmlns:r="http://schemas.openxmlformats.org/officeDocument/2006/relationships" id="259" r:id="R63c9b46e44ed4f77"/>
    <p:sldId xmlns:r="http://schemas.openxmlformats.org/officeDocument/2006/relationships" id="260" r:id="Rc6a707daf84044c2"/>
    <p:sldId xmlns:r="http://schemas.openxmlformats.org/officeDocument/2006/relationships" id="261" r:id="R8f80436e71de4ebe"/>
    <p:sldId xmlns:r="http://schemas.openxmlformats.org/officeDocument/2006/relationships" id="262" r:id="R46ba87e4afa34e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0a50d9f5754f9e" /><Relationship Type="http://schemas.openxmlformats.org/officeDocument/2006/relationships/slideMaster" Target="/ppt/slideMasters/slideMaster1.xml" Id="R340e12f4e7314a19" /><Relationship Type="http://schemas.openxmlformats.org/officeDocument/2006/relationships/notesMaster" Target="/ppt/notesMasters/notesMaster1.xml" Id="R8769667469444a7b" /><Relationship Type="http://schemas.openxmlformats.org/officeDocument/2006/relationships/presProps" Target="/ppt/presProps.xml" Id="R4abdb24b3b834264" /><Relationship Type="http://schemas.openxmlformats.org/officeDocument/2006/relationships/tableStyles" Target="/ppt/tableStyles.xml" Id="Red69a5c0f4bd4dda" /><Relationship Type="http://schemas.openxmlformats.org/officeDocument/2006/relationships/slide" Target="/ppt/slides/slide1.xml" Id="R5f94232d623c4778" /><Relationship Type="http://schemas.openxmlformats.org/officeDocument/2006/relationships/slide" Target="/ppt/slides/slide2.xml" Id="R9ff1372b38884ea7" /><Relationship Type="http://schemas.openxmlformats.org/officeDocument/2006/relationships/slide" Target="/ppt/slides/slide3.xml" Id="R6e557d5c83bd4182" /><Relationship Type="http://schemas.openxmlformats.org/officeDocument/2006/relationships/slide" Target="/ppt/slides/slide4.xml" Id="R63c9b46e44ed4f77" /><Relationship Type="http://schemas.openxmlformats.org/officeDocument/2006/relationships/slide" Target="/ppt/slides/slide5.xml" Id="Rc6a707daf84044c2" /><Relationship Type="http://schemas.openxmlformats.org/officeDocument/2006/relationships/slide" Target="/ppt/slides/slide6.xml" Id="R8f80436e71de4ebe" /><Relationship Type="http://schemas.openxmlformats.org/officeDocument/2006/relationships/slide" Target="/ppt/slides/slide7.xml" Id="R46ba87e4afa34e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abf14d8c484a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fb94d972134138" /><Relationship Type="http://schemas.openxmlformats.org/officeDocument/2006/relationships/notesMaster" Target="/ppt/notesMasters/notesMaster1.xml" Id="R5aaa25e93ffa49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9dc07980644cd1" /><Relationship Type="http://schemas.openxmlformats.org/officeDocument/2006/relationships/notesMaster" Target="/ppt/notesMasters/notesMaster1.xml" Id="R22eee200c8e34e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a9e14d8f92443c" /><Relationship Type="http://schemas.openxmlformats.org/officeDocument/2006/relationships/notesMaster" Target="/ppt/notesMasters/notesMaster1.xml" Id="R548a69a11cb943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fa55844d124f9c" /><Relationship Type="http://schemas.openxmlformats.org/officeDocument/2006/relationships/notesMaster" Target="/ppt/notesMasters/notesMaster1.xml" Id="Rccedc038bbe34b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a9a9a44ec44883" /><Relationship Type="http://schemas.openxmlformats.org/officeDocument/2006/relationships/notesMaster" Target="/ppt/notesMasters/notesMaster1.xml" Id="R82637a7701d44f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2245f562f142e5" /><Relationship Type="http://schemas.openxmlformats.org/officeDocument/2006/relationships/notesMaster" Target="/ppt/notesMasters/notesMaster1.xml" Id="Rc1d29a0479ac47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42460ccae74478" /><Relationship Type="http://schemas.openxmlformats.org/officeDocument/2006/relationships/notesMaster" Target="/ppt/notesMasters/notesMaster1.xml" Id="R194fac2f3bb14d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README del repositorio CAPSTONE Galactum y docs/PROJECT_STATUS.md. Estado presentado: M0 completado, M1 completado/integrado y M2 activo.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Fase 2/Evidencias Proyecto (version Agil)/Documento 01 - Product Vision.md; README.md del repositorio CAPSTONE; docs/ARCHITECTURE.md.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docs/ARCHITECTURE.md y README.md. El SSS es autoritativo; el cliente solicita acciones y mantiene una réplica local. Parámetros documentados: WebSocket JSON, puerto 9100 y mapa de pruebas de 600 × 600.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docs/PROJECT_STATUS.md, docs/TESTING.md y Fase 2/Evidencias Proyecto (version Agil)/Documento 02 - Product Backlog.md. No se presenta minería, PvE ni combate completo como implementados.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docs/TESTING.md, docs/EVIDENCE_MAP.md, Fase 1/Evidencias Grupales/02_Prototipo_SSS_Arquitectura.md y Fase 2/Evidencias Grupales.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README.md del repositorio CAPSTONE, Fase 2/Evidencias Proyecto (version Agil)/Documento 04 - Definition of Done.md e historial técnico de Galactum. Los aportes de Juan se verifican en la implementación y pruebas de minería de asteroides e integración minería–combate.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Fase 2/Evidencias Proyecto (version Agil)/Documento 02 - Product Backlog.md y plan de trabajo de la Guía APT. Los hitos posteriores a M2 se indican como planificados.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0c16db8d7247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30acb655a24f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e55456468b46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d389e47296493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4879d0ca2472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ebc4d832140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1F46C17-A4B3-4923-888A-652DF5281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D09244B-6E96-41C2-BF76-DF00780887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17275E-FDE3-43B3-9A69-F3DD5291A4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4EB6D8-97A0-4586-B41A-E62B859ED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32A7D5-45FA-4453-9F8D-7FA96BF3F3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A8DAF4-5A3C-4CD9-B1D6-BA05CC30C5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5508F4E-8FE1-4D39-A5CA-FD7385DE62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6A8B13-5DBE-4454-8F43-33F080E478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980EC1-4701-4625-88B1-5FF53382CC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8F2D28-350D-47BF-8649-50F0D2CE65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e582d843e948dc" /><Relationship Type="http://schemas.openxmlformats.org/officeDocument/2006/relationships/slideLayout" Target="/ppt/slideLayouts/slideLayout1.xml" Id="R9a2f3b08be364e4b" /><Relationship Type="http://schemas.openxmlformats.org/officeDocument/2006/relationships/slideLayout" Target="/ppt/slideLayouts/slideLayout2.xml" Id="R50f1aa4339f5443c" /><Relationship Type="http://schemas.openxmlformats.org/officeDocument/2006/relationships/slideLayout" Target="/ppt/slideLayouts/slideLayout3.xml" Id="Rc98491a6647d4a5e" /><Relationship Type="http://schemas.openxmlformats.org/officeDocument/2006/relationships/slideLayout" Target="/ppt/slideLayouts/slideLayout4.xml" Id="R937aab8762cc4d97" /><Relationship Type="http://schemas.openxmlformats.org/officeDocument/2006/relationships/slideLayout" Target="/ppt/slideLayouts/slideLayout5.xml" Id="R547c14adda7c4dc2" /><Relationship Type="http://schemas.openxmlformats.org/officeDocument/2006/relationships/slideLayout" Target="/ppt/slideLayouts/slideLayout6.xml" Id="R63bd833d52504d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2f3b08be364e4b"/>
    <p:sldLayoutId xmlns:r="http://schemas.openxmlformats.org/officeDocument/2006/relationships" id="2147483650" r:id="R50f1aa4339f5443c"/>
    <p:sldLayoutId xmlns:r="http://schemas.openxmlformats.org/officeDocument/2006/relationships" id="2147483651" r:id="Rc98491a6647d4a5e"/>
    <p:sldLayoutId xmlns:r="http://schemas.openxmlformats.org/officeDocument/2006/relationships" id="2147483652" r:id="R937aab8762cc4d97"/>
    <p:sldLayoutId xmlns:r="http://schemas.openxmlformats.org/officeDocument/2006/relationships" id="2147483653" r:id="R547c14adda7c4dc2"/>
    <p:sldLayoutId xmlns:r="http://schemas.openxmlformats.org/officeDocument/2006/relationships" id="2147483654" r:id="R63bd833d52504d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5f02eec83742c7" /><Relationship Type="http://schemas.openxmlformats.org/officeDocument/2006/relationships/notesSlide" Target="/ppt/notesSlides/notesSlide1.xml" Id="Rdb626d1be1514c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438029f0494d27" /><Relationship Type="http://schemas.openxmlformats.org/officeDocument/2006/relationships/notesSlide" Target="/ppt/notesSlides/notesSlide2.xml" Id="R4fd61c7cb5f146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06445400504442" /><Relationship Type="http://schemas.openxmlformats.org/officeDocument/2006/relationships/notesSlide" Target="/ppt/notesSlides/notesSlide3.xml" Id="R07f7a5c66d674a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6e453137f4388" /><Relationship Type="http://schemas.openxmlformats.org/officeDocument/2006/relationships/notesSlide" Target="/ppt/notesSlides/notesSlide4.xml" Id="Rfdfae980035e459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d2e851c4414e1b" /><Relationship Type="http://schemas.openxmlformats.org/officeDocument/2006/relationships/notesSlide" Target="/ppt/notesSlides/notesSlide5.xml" Id="R7a4c12557fda48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bf7f6a52104442" /><Relationship Type="http://schemas.openxmlformats.org/officeDocument/2006/relationships/notesSlide" Target="/ppt/notesSlides/notesSlide6.xml" Id="Rfa9bc25a7bef4f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6984c3251543f2" /><Relationship Type="http://schemas.openxmlformats.org/officeDocument/2006/relationships/notesSlide" Target="/ppt/notesSlides/notesSlide7.xml" Id="Rb2787f8c613041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1A5D2C-D952-4B6C-95A0-5FA7640B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941A1-1A27-464B-9B0F-A3CAD625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48FE9-09B8-4D75-AF2A-7957ED12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65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GALACTUM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ADB28-2ABD-42D1-B95C-779CA072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3143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772"/>
          </a:bodyPr>
          <a:lstStyle xmlns:a="http://schemas.openxmlformats.org/drawingml/2006/main">
            <a:defPPr algn="l">
              <a:defRPr sz="4125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4125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Mundo y combate</a:t>
            </a:r>
          </a:p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4125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en tiempo real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97E17-FD27-4D94-8DA1-B1FD96D5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E8EAED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500" b="0" i="0">
                <a:solidFill>
                  <a:srgbClr val="E8EAED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00" b="0" i="0">
                <a:solidFill>
                  <a:srgbClr val="E8EAED"/>
                </a:solidFill>
                <a:latin typeface="Century Gothic"/>
                <a:ea typeface="Century Gothic"/>
                <a:cs typeface="Century Gothic"/>
              </a:rPr>
              <a:t>Proyecto APT · Equipo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106D3-5B10-401E-8438-9C3D1FA9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85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0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Lucas Orellana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0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Mateo Orellana</a:t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0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Juan Castro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26D03-0F69-4F47-9037-E9A91727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001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2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2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2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AVANCE CONSOLIDADO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F8DFE-E8D5-44D3-90DD-AA3B0AE9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28750"/>
            <a:ext cx="6191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889"/>
          </a:bodyPr>
          <a:lstStyle xmlns:a="http://schemas.openxmlformats.org/drawingml/2006/main">
            <a:defPPr algn="l">
              <a:defRPr sz="30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30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Una base autoritativa para</a:t>
            </a:r>
          </a:p>
          <a:p xmlns:a="http://schemas.openxmlformats.org/drawingml/2006/main">
            <a:pPr algn="l">
              <a:defRPr sz="30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30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un mundo multijugador coherente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82F8F-0DBE-48D1-9A7E-B7F930F3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425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425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Godot 4.6.2 · GDScript · WebSocket · JSON · PC / Android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1C8364-DF8D-4840-8209-0E4B2B15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1714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FC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F27A2-EC7F-456A-A52E-59D9F33D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14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M0 completado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4A2AF-D26B-4C7C-870C-D04F30B3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95750"/>
            <a:ext cx="1714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3B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32C4A-967E-4189-8892-286AF38B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14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M1 integrado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827D0-7803-43A1-BAB8-542ABA96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95750"/>
            <a:ext cx="1524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4E8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5A9D65-4421-491D-98FA-ED4439F4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148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M2 activo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75A4F-DE8A-4DC0-BD05-874653EE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8635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0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Repositorio CAPSTONE</a:t>
            </a:r>
          </a:p>
          <a:p xmlns:a="http://schemas.openxmlformats.org/drawingml/2006/main">
            <a:pPr algn="l">
              <a:defRPr sz="1350" b="0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0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github.com/Drfiter/galactum-capstone-2026</a:t>
            </a:r>
          </a:p>
        </p:txBody>
      </p:sp>
    </p:spTree>
    <p:extLst>
      <p:ext uri="{BB962C8B-B14F-4D97-AF65-F5344CB8AC3E}">
        <p14:creationId xmlns:p14="http://schemas.microsoft.com/office/powerpoint/2010/main" val="1024623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-accent">
            <a:extLst xmlns:a="http://schemas.openxmlformats.org/drawingml/2006/main">
              <a:ext uri="{FF2B5EF4-FFF2-40B4-BE49-F238E27FC236}">
                <a16:creationId xmlns:a16="http://schemas.microsoft.com/office/drawing/2014/main" id="{36A8A1BD-C2DB-463D-BB03-8B1FDEDB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14730D27-97AD-4D25-A619-A13AC2E6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PROPUESTA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04E257-427A-40A2-BB92-11748E1A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El problema que resolvemos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11EDEEB-0E36-4A0F-BC30-7608CB6A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F82FA8-A2D5-4C5D-A6C4-79434FA9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5048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370"/>
          </a:bodyPr>
          <a:lstStyle xmlns:a="http://schemas.openxmlformats.org/drawingml/2006/main">
            <a:defPPr algn="l">
              <a:defRPr sz="187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En un mundo multijugador, todos los clientes deben observar un estado coherente incluso cuando existen retrasos, pérdidas de mensajes o reconexiones.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82E92-EF58-449A-9B7B-F253F1B9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 algn="l">
              <a:defRPr sz="18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La respuesta de Galactum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FBCEE-230A-45D5-9A59-9DA78840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4857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7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El servidor SSS es la fuente de verdad.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7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El cliente envía intenciones y representa el estado recibido.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7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7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Snapshots, deltas y secuencias permiten detectar y recuperar desincronizaciones.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9089B-A2BB-496F-8CA7-C4840382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4E8B7"/>
          </a:solidFill>
          <a:ln xmlns:a="http://schemas.openxmlformats.org/drawingml/2006/main" w="9525">
            <a:solidFill>
              <a:srgbClr val="D0D3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4FB74-D7B9-4B61-BAD0-D0E28B5A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62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>
            <a:defPPr algn="l">
              <a:defRPr sz="17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Estado compartido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DCEC1-E702-46E8-AB74-89F5152E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Una versión consistente del mundo para todos los clientes.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8E043-9143-4D9A-882B-A2CF6850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71825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4EEF5"/>
          </a:solidFill>
          <a:ln xmlns:a="http://schemas.openxmlformats.org/drawingml/2006/main" w="9525">
            <a:solidFill>
              <a:srgbClr val="D0D3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3A0CA-52FC-44E1-A147-1E60C213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432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>
            <a:defPPr algn="l">
              <a:defRPr sz="17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Recuperación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D3732-B70A-47A3-8107-392FEF5A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67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Solicitud de full snapshot cuando se detecta un gap de secuencia.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D30E18-640D-48D3-A8F7-4B4943C0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52950"/>
            <a:ext cx="4762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5F0E2"/>
          </a:solidFill>
          <a:ln xmlns:a="http://schemas.openxmlformats.org/drawingml/2006/main" w="9525">
            <a:solidFill>
              <a:srgbClr val="D0D3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3F88EA-A401-43F0-A373-CAEDF500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244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913"/>
          </a:bodyPr>
          <a:lstStyle xmlns:a="http://schemas.openxmlformats.org/drawingml/2006/main">
            <a:defPPr algn="l">
              <a:defRPr sz="17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7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Integración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30707-50A3-445F-A124-760A7148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482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350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Contratos claros para que otros equipos consuman servicios del Equipo 3.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6E7233-A69F-46E0-AB39-52D08EA1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GALACTUM · EQUIPO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C428EA-3BAE-4696-AE31-A757B39F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31108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op-accent">
            <a:extLst xmlns:a="http://schemas.openxmlformats.org/drawingml/2006/main">
              <a:ext uri="{FF2B5EF4-FFF2-40B4-BE49-F238E27FC236}">
                <a16:creationId xmlns:a16="http://schemas.microsoft.com/office/drawing/2014/main" id="{AEF2BB12-6795-426F-8894-43A061AF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542E216-FA46-4CC5-B08C-B9ACDC13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DISEÑO TÉCNICO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7704E7-8E94-40D3-92F4-5956A4D6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Arquitectura cliente–servidor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48884B6-C961-466E-BD14-FFC9F77A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A3BEF-1A9B-4DBE-BDD1-20265C58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905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4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DC466-1896-4263-A7C9-EF333086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28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CLIENTE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20336-9A34-473C-96EE-EFB922A0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1905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4E8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2494E5-B21D-4565-A2FE-E9D5985F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28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TRANSPORTE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6C4843-D64A-4119-90BF-D0CF60B0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19050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E5F0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37F89-ED5F-4153-B46E-B1F718AF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28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SERVIDOR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8C9F8-97F7-4CF9-A630-BD04A58A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B8C5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AF331-8BB0-436D-9F88-0F74A90B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9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Cliente Godot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A0EC2-0EB9-43F4-8218-A29FDCE9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952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>
            <a:defPPr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PC y Android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Selección y cámara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Réplica local del estado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E0BAE-9382-47A9-80C1-BBAED1C9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>
            <a:defPPr algn="ctr">
              <a:defRPr sz="405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405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405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9AEA2-DE8C-4A31-85E1-7E53E840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2667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8DF"/>
          </a:solidFill>
          <a:ln xmlns:a="http://schemas.openxmlformats.org/drawingml/2006/main" w="9525">
            <a:solidFill>
              <a:srgbClr val="D8B9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C75A88-5B30-4CC0-A067-3C6E3874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289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033"/>
          </a:bodyPr>
          <a:lstStyle xmlns:a="http://schemas.openxmlformats.org/drawingml/2006/main">
            <a:defPPr algn="ctr">
              <a:defRPr sz="19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9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WebSocket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2F48F-D614-4AD6-81B6-343C8CE9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209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protocol_version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seq + server_time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Puerto local 9100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312D30-9F35-4BE4-87FE-2A46A618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194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>
            <a:defPPr algn="ctr">
              <a:defRPr sz="405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405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405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BA2D9-1109-41F1-A336-AD547DE2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8125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1F7EF"/>
          </a:solidFill>
          <a:ln xmlns:a="http://schemas.openxmlformats.org/drawingml/2006/main" w="9525">
            <a:solidFill>
              <a:srgbClr val="B5C9A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75E20A-699B-4D5C-B5BE-919A8516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289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9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SSS headless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2B5405-ADD6-4ACA-9F66-468298A1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43250"/>
            <a:ext cx="1952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>
            <a:defPPr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Estado autoritativo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Validación de acciones</a:t>
            </a:r>
          </a:p>
          <a:p xmlns:a="http://schemas.openxmlformats.org/drawingml/2006/main">
            <a:pPr marL="228600" indent="-114300">
              <a:spcAft>
                <a:spcPts val="4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Snapshots y deltas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D92C53-F595-49F8-A679-993968C0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858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A1D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50BA0D-B0A0-4FC3-9EE5-A598155E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7680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>
            <a:defPPr algn="l">
              <a:defRPr sz="15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Flujo de sincronización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1068F-696B-4A45-86F5-EDF1A0D0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ctr">
              <a:defRPr sz="1650" b="0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1650" b="0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650" b="0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full_snapshot  ·  map_delta { added / updated / removed }  ·  request_full_snapshot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7BCA9E-88F8-41A6-A881-9C468E68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GALACTUM · EQUIPO 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8DB074-D205-449B-B991-2AE1D579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479241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op-accent">
            <a:extLst xmlns:a="http://schemas.openxmlformats.org/drawingml/2006/main">
              <a:ext uri="{FF2B5EF4-FFF2-40B4-BE49-F238E27FC236}">
                <a16:creationId xmlns:a16="http://schemas.microsoft.com/office/drawing/2014/main" id="{334C2428-DDD6-4E0A-A726-164CB7C8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6B83E83-48BD-4935-9796-2BCEEA3C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ESTADO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484360-F570-490C-B125-80E85A32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Avance por hitos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8C4B7B5-8EB3-462C-A956-8992F250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0B146-8DC4-441B-AAE8-D6F8DAAA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43250" cy="3714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D3D6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5B010-6758-43EB-8604-D4FD2B7C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47875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000"/>
          </a:bodyPr>
          <a:lstStyle xmlns:a="http://schemas.openxmlformats.org/drawingml/2006/main">
            <a:defPPr algn="l">
              <a:defRPr sz="37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37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37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M0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9EF4D-D015-4FA9-98FC-085405B3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7170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FC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42870-4DA0-40DA-8649-039A1BB5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907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COMPLETADO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DCE1E-AA3A-4310-9FDA-B36F0EF5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Base técnica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67A82-C2E5-44C0-B0CD-D8C31067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2609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Conexión cliente–SSS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JSON y versión de protocolo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Snapshot inicial y pong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96058-2A6B-4494-A741-C28531A5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809750"/>
            <a:ext cx="3143250" cy="3714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D3D6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740D9-BA97-40FF-8A31-FA209F25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000"/>
          </a:bodyPr>
          <a:lstStyle xmlns:a="http://schemas.openxmlformats.org/drawingml/2006/main">
            <a:defPPr algn="l">
              <a:defRPr sz="37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37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37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M1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C84F1-D5D1-4563-995E-EDC13F90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17170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83B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E368C-D227-412C-8DD5-13FC7052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907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INTEGRADO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440B3-3751-40C1-9B9B-45F10509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89560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Mundo sincronizado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5DD76-04D0-4603-B4D9-797CF63F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76625"/>
            <a:ext cx="2609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WorldState y map_delta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Secuencias y detección de gaps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Recuperación por full snapshot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58A2A-FB3D-44DC-AE99-42E95F57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09750"/>
            <a:ext cx="3143250" cy="3714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7F8"/>
          </a:solidFill>
          <a:ln xmlns:a="http://schemas.openxmlformats.org/drawingml/2006/main" w="9525">
            <a:solidFill>
              <a:srgbClr val="D3D6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DB53C1-1C63-4469-9EA0-DCD65021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47875"/>
            <a:ext cx="876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000"/>
          </a:bodyPr>
          <a:lstStyle xmlns:a="http://schemas.openxmlformats.org/drawingml/2006/main">
            <a:defPPr algn="l">
              <a:defRPr sz="37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37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37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M2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1EBAD6-74D3-41AE-A71D-3626641F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71700"/>
            <a:ext cx="1381125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4E8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406BC2-F7D0-480B-AE8B-83BF7763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90750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ACTIVO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3FC59-5285-4A32-A7D9-AD3174BD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2609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7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Mundo jugable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9C0FE4-2304-4C5F-A0BF-5B0B3410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26098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Viaje y simulación autoritativa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Proyección visual y ETA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Alineación del runtime e integración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CD0F5D-467D-4F54-98AF-E44EA8FC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>
            <a:defPPr algn="ctr">
              <a:defRPr sz="165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65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La evidencia separa lo completado de lo planificado.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B8F8A7-8F28-439F-B5B6-6786FC4F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GALACTUM · EQUIPO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42CD85-8FE2-4B5C-B837-26D478D3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192711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-accent">
            <a:extLst xmlns:a="http://schemas.openxmlformats.org/drawingml/2006/main">
              <a:ext uri="{FF2B5EF4-FFF2-40B4-BE49-F238E27FC236}">
                <a16:creationId xmlns:a16="http://schemas.microsoft.com/office/drawing/2014/main" id="{A00CA9D7-2D02-4562-8488-1BD07E96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C36F21D-BCF7-4ED5-8FE4-8515F638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EVIDENCIAS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A70826-5FFD-4AA3-A967-6B7E9945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Qué ya podemos demostrar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78832C-2C5B-4EEF-A8E9-778A8DC4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89E6E-200F-42E1-B136-BF3966D9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5238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A1D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4B59E-E327-469D-A107-C3CD2B36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 algn="l">
              <a:defRPr sz="21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00" b="1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Funciones implementadas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69CDB-7635-4E5F-8ACC-655B7E8F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33387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Aplicación de full_snapshot y map_delta.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Entidades added, updated y removed.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Detección de saltos de secuencia.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Recuperación mediante request_full_snapshot.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Selección, paneo, zoom y culling.</a:t>
            </a:r>
          </a:p>
          <a:p xmlns:a="http://schemas.openxmlformats.org/drawingml/2006/main">
            <a:pPr marL="228600" indent="-114300">
              <a:spcAft>
                <a:spcPts val="800"/>
              </a:spcAft>
              <a:buChar char="•"/>
              <a:defRPr sz="15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0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Separación entre cliente y servidor autoritativo.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A07D07-1EEC-4FE6-964E-FE2C3FCF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>
            <a:defPPr algn="l">
              <a:defRPr sz="21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21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21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Evidencia trazable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CD47B-A1B9-419A-A676-BF9EDC3F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76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8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16A47-EE2B-4EC6-B433-D32ADBE6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38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>
            <a:def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M0_SMOKE_OK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B0B09-AD5B-49E2-8381-B0D4211F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>
            <a:defPPr algn="l">
              <a:defRPr sz="1275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275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Conexión y protocolo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937A2-66B0-418B-A7E7-D32A6B08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14700"/>
            <a:ext cx="476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8DF"/>
          </a:solidFill>
          <a:ln xmlns:a="http://schemas.openxmlformats.org/drawingml/2006/main" w="9525">
            <a:solidFill>
              <a:srgbClr val="D5D8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47CCF-A026-475F-9F16-D9BCFE93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813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>
            <a:def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M1_CLIENT_WORLD_STATE_TEST_OK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DD77C-93AA-478D-8C70-42F473B2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04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>
            <a:defPPr algn="l">
              <a:defRPr sz="1275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275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WorldState en el cliente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7480E-E6FC-4E26-AFB0-B3DE25D7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57650"/>
            <a:ext cx="476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5D8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225953-E6D2-4EA5-8468-B33DC6BB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243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>
            <a:def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M1_SSS_CONNECTION_SEQUENCE_TEST_OK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F305B-E876-4607-8819-98BF6CE4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434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>
            <a:defPPr algn="l">
              <a:defRPr sz="1275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275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Secuencias y conexión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DF33A8-38D7-47EA-86E2-7F79DD97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4762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8DF"/>
          </a:solidFill>
          <a:ln xmlns:a="http://schemas.openxmlformats.org/drawingml/2006/main" w="9525">
            <a:solidFill>
              <a:srgbClr val="D5D8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C57F9-DA7E-4ADB-A647-C081EBA2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6727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>
            <a:def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SSS_WORLD_TEST_OK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1B1F55-D0AD-405B-B401-E39D74F8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863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0784"/>
          </a:bodyPr>
          <a:lstStyle xmlns:a="http://schemas.openxmlformats.org/drawingml/2006/main">
            <a:defPPr algn="l">
              <a:defRPr sz="1275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275" b="0" i="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Comportamiento del mundo en servidor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E159DE-1A89-47B7-A5DD-BA587564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3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12"/>
          </a:bodyPr>
          <a:lstStyle xmlns:a="http://schemas.openxmlformats.org/drawingml/2006/main">
            <a:defPPr algn="l">
              <a:defRPr sz="1275" b="0" i="1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1275" b="0" i="1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Criterio: una prueba cuenta como ejecutada solo si se conserva el comando y su salida.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512D3D-FA21-4CDB-93ED-23E22E4F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GALACTUM · EQUIPO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B6D1A6-88F7-4D56-AA7B-10276EF4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719327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op-accent">
            <a:extLst xmlns:a="http://schemas.openxmlformats.org/drawingml/2006/main">
              <a:ext uri="{FF2B5EF4-FFF2-40B4-BE49-F238E27FC236}">
                <a16:creationId xmlns:a16="http://schemas.microsoft.com/office/drawing/2014/main" id="{00C603A2-43CF-4971-BE31-75B74A4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BE9EB52-A7E8-4ADC-8DDD-704C198A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ORGANIZACIÓN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92C00B-DEDD-43E0-AA09-E12F3F25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Equipo y forma de trabajo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25C6D8D0-9562-4F4B-98F4-DEFF93EB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9B59E-1857-4D2A-BEF0-355EE67E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7D2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732CD-FD96-4BD7-BD55-8A17E7B5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 algn="l">
              <a:defRPr sz="18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Lucas Orellana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B4C57-DFCB-4CF7-91F0-B42551D5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193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Entorno y WebSocket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Sistema de viaje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Balance e integración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DEA7E-9C55-4B3F-9608-2C5113E1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62125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1F7EF"/>
          </a:solidFill>
          <a:ln xmlns:a="http://schemas.openxmlformats.org/drawingml/2006/main" w="9525">
            <a:solidFill>
              <a:srgbClr val="C3D4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7BCC0-E7A5-43F8-BF8A-A1E10D9F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383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 algn="l">
              <a:defRPr sz="18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Mateo Orellana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1082B-E3C0-4BDC-8C61-5AC013FF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193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Spatial hash y snapshots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Spawning y rallies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Soak test y profiling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AA56AB-E03E-4C96-9728-75066433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62125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8DF"/>
          </a:solidFill>
          <a:ln xmlns:a="http://schemas.openxmlformats.org/drawingml/2006/main" w="9525">
            <a:solidFill>
              <a:srgbClr val="D8B9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7360E0-D65B-40B3-8ED2-E0C2B6B6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2876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>
            <a:defPPr algn="l">
              <a:defRPr sz="18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8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8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Juan Castro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35778-29DF-45E5-8E01-EC8366D9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19375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Minería de asteroides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Integración minería–combate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>
                <a:solidFill>
                  <a:srgbClr val="34383E"/>
                </a:solidFill>
                <a:latin typeface="Century Gothic"/>
                <a:ea typeface="Century Gothic"/>
                <a:cs typeface="Century Gothic"/>
              </a:rPr>
              <a:t>Sincronización y pruebas SSS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A110E-4AEE-46D0-9F80-C738BF46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05375"/>
            <a:ext cx="8191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A1D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21507D-9992-4BDD-8103-04AB54A0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>
            <a:defPPr algn="l">
              <a:defRPr sz="15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Trabajo conjunto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2AF06-2BE3-4574-861E-44143D533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863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303"/>
          </a:bodyPr>
          <a:lstStyle xmlns:a="http://schemas.openxmlformats.org/drawingml/2006/main">
            <a:defPPr algn="ctr">
              <a:defRPr sz="1350" b="0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1350" b="0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0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Resolver de combate · documentación · integración · revisión de evidencias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F0AFE-0957-40ED-A6DC-B7AF40A8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5312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>
            <a:defPPr algn="ctr">
              <a:defRPr sz="14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14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Scrum · sprints de 2 semanas · Git/GitHub · Kanban · TDD en componentes críticos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59268-186C-4DAF-8A2C-28E992EF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GALACTUM · EQUIPO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EA9C2-9AAC-4580-8C5C-87F76FCA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6622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op-accent">
            <a:extLst xmlns:a="http://schemas.openxmlformats.org/drawingml/2006/main">
              <a:ext uri="{FF2B5EF4-FFF2-40B4-BE49-F238E27FC236}">
                <a16:creationId xmlns:a16="http://schemas.microsoft.com/office/drawing/2014/main" id="{59A4E55A-2B5A-443C-B858-FE6D176B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D999456-E880-44C6-976D-D6ACB8AF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HOJA DE RUTA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A94E7B5-824F-4355-ABC1-95B34C31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330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Plan de trabajo y próximos pasos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364ED84-F0DD-4C68-9487-E437D938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A5AA8-1A5A-4098-A8F7-5457FA3C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>
            <a:defPPr algn="l">
              <a:defRPr sz="112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12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112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SEMESTRE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9D9A0-95FB-4ED5-8B8F-F10F0855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80217-9EE0-48AA-B7B4-27F3B2DE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4E9B1-F62B-4B4C-8DA7-7FB40D14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2088D-845B-4122-A175-EBCEB33B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C8273-0C0D-4534-A3B1-746B8799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F552D-35DB-4158-84FE-EC2F125E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E8822-1979-450F-9512-39B32F52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5D26B-B72D-4432-AAD2-D04B7D0A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F83C5-9254-456C-91E5-C7AEE864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8AA82-E2E2-445D-8D81-EF801C87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7958C-E14C-4809-976F-82541EEB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11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B7129-BB23-44AC-8CC1-7CEB2BB9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937A6-1E3D-48BA-9440-86238A09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13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118A6-29FE-4E33-8092-9220269A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92FCD-BC8F-4E37-BF90-0F554087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15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2727EF-7613-4E08-8B30-7BFF4FD2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56EAB3-B7E2-4E30-A178-BF324CC5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17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1328E6-FEE9-4467-B9B8-8BD41409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6954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75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18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C99E10-FA83-4C44-B65D-AA09A467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Definición + M0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D12196-33AE-46D2-90B2-B897DA02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7886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AD5AB9-6809-497F-9FD2-40B7D86A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1752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8FCB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E060AE-0328-4ECC-9175-EF8AE084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812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COMPLETADO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7DA3DD-80A1-4250-AE53-C604C0AF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M1 sincronización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F0EFB8-548F-4560-BDE0-5B0C800C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09875"/>
            <a:ext cx="7886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9F5CA-9731-4670-8D34-23AFEEFD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9875"/>
            <a:ext cx="1314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83B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36B6DE-09B1-48BD-92C0-8ABFB84A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19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INTEGRADO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124663-98A4-4E60-909D-F52D1E61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597"/>
          </a:bodyPr>
          <a:lstStyle xmlns:a="http://schemas.openxmlformats.org/drawingml/2006/main">
            <a:defPPr algn="l">
              <a:defRPr sz="13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M2 viaje e integración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AA14FB-0C00-4D10-BD6F-6A7B3F65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48050"/>
            <a:ext cx="7886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12A610-5792-4515-A3FB-A53797CD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48050"/>
            <a:ext cx="1314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BA3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6C4F4F-8F20-4BA9-B38C-CBACEB9B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575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9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ACTIVO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35A88E-BE06-4DE5-AAA2-F6D95A13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576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042"/>
          </a:bodyPr>
          <a:lstStyle xmlns:a="http://schemas.openxmlformats.org/drawingml/2006/main">
            <a:defPPr algn="l">
              <a:defRPr sz="13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Mecánicas + combate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B0769D-0DF4-43EA-8634-E4BFD367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86225"/>
            <a:ext cx="7886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2FA3AE-E596-48D6-A046-7BBC4601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86225"/>
            <a:ext cx="2628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6D9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9D74D8-C791-4610-9B8A-AAB8D1D2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95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PLANIFICADO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9AC9C9-69B4-4B5F-8980-D7A2B8C6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l">
              <a:defRPr sz="13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3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defRPr>
            </a:pPr>
            <a:r>
              <a:rPr sz="1350" b="1" i="0">
                <a:solidFill>
                  <a:srgbClr val="08090B"/>
                </a:solidFill>
                <a:latin typeface="Century Gothic"/>
                <a:ea typeface="Century Gothic"/>
                <a:cs typeface="Century Gothic"/>
              </a:rPr>
              <a:t>QA + cierre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1CC2CC-1B6B-47B9-897D-50608448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24400"/>
            <a:ext cx="7886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AF11EE0-B8B7-4150-9164-BA5F5AAB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24400"/>
            <a:ext cx="13144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FC4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36E3C5-A863-4B6A-9A5A-44C2EE94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339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PLANIFICADO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255770-966E-4037-92DF-CD10DF4A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A1D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2F476E-BFF1-44C8-A213-06A88B7F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>
            <a:defPPr algn="l">
              <a:defRPr sz="15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defRPr>
            </a:pPr>
            <a:r>
              <a:rPr sz="1500" b="1" i="0">
                <a:solidFill>
                  <a:srgbClr val="EBA332"/>
                </a:solidFill>
                <a:latin typeface="Century Gothic"/>
                <a:ea typeface="Century Gothic"/>
                <a:cs typeface="Century Gothic"/>
              </a:rPr>
              <a:t>Siguiente foco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C5F1BE-58B7-49AA-9ED1-45DE1AB7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388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defPPr algn="ctr">
              <a:defRPr sz="1425" b="0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ctr">
              <a:defRPr sz="1425" b="0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defRPr>
            </a:pPr>
            <a:r>
              <a:rPr sz="1425" b="0" i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Órdenes de movimiento · QA AOI/FOV · Android real · minería/PvE · combate y balance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1C5436-4AB0-438C-BA19-27D458AE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l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l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GALACTUM · EQUIPO 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C34ED4-A3CD-461E-9DFA-D6B4F76E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>
            <a:def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defPPr>
          </a:lstStyle>
          <a:p xmlns:a="http://schemas.openxmlformats.org/drawingml/2006/main">
            <a:pPr algn="r">
              <a:def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defRPr>
            </a:pPr>
            <a:r>
              <a:rPr sz="900" b="1" i="0">
                <a:solidFill>
                  <a:srgbClr val="8B9199"/>
                </a:solidFill>
                <a:latin typeface="Century Gothic"/>
                <a:ea typeface="Century Gothic"/>
                <a:cs typeface="Century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14114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2026-10-18T01:08:06.2360000Z</dcterms:created>
  <dcterms:modified xsi:type="dcterms:W3CDTF">2026-10-18T01:08:06.2360000Z</dcterms:modified>
</coreProperties>
</file>